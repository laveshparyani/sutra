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Calibri"/>
              </a:rPr>
              <a:t>Portal throughput does not scale with connections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Aggregate delivered (Mbps)</c:v>
                </c:pt>
              </c:strCache>
            </c:strRef>
          </c:tx>
          <c:spPr>
            <a:solidFill>
              <a:srgbClr val="F0A42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4 streams</c:v>
                  </c:pt>
                  <c:pt idx="1">
                    <c:v>10 streams</c:v>
                  </c:pt>
                  <c:pt idx="2">
                    <c:v>20 streams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5</c:v>
                </c:pt>
                <c:pt idx="2">
                  <c:v>5.4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8E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</c:scaling>
        <c:delete val="0"/>
        <c:axPos val="l"/>
        <c:majorGridlines>
          <c:spPr>
            <a:ln w="12700" cap="flat">
              <a:solidFill>
                <a:srgbClr val="24405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BB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1A2B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SUTRA is a working platform, not a proposal. Hosted instance is live with real accumulated data from the hackathon portal's government feeds.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constraints drive every architectural decision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500x bandwidth argument is quantified on the scalability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analytics (YOLOX-nano, 43 ms/frame) adds person/vehicle counts per camera as a throttled sidecar.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differentiator: characterising the infrastructure and designing to it, rather than assuming bandwidth and reporting failures as errors.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6916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spc="6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SUTRA</a:t>
            </a:r>
            <a:endParaRPr lang="en-US" sz="82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0175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Unified Tracking, Registry &amp; Analytics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6118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platform federating 26 departments' CCTV systems — registry and GIS, AI number-plate analytics, government-database correlation and real-time alerting.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0060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Gujarat Police CCTV Integration Hackathon 2026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1 · Individual entry · Lavesh Paryani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architecture: Model 1 (mandatory) + Model 3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052560" y="173736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281160" y="19659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NOW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281160" y="233172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9281160" y="264261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onboarded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281160" y="29900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9281160" y="330098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 · 7 departments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281160" y="364845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9281160" y="395935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43068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17/17</a:t>
            </a:r>
            <a:endParaRPr lang="en-US" sz="2500" dirty="0"/>
          </a:p>
        </p:txBody>
      </p:sp>
      <p:sp>
        <p:nvSpPr>
          <p:cNvPr id="15" name="Text 13"/>
          <p:cNvSpPr txBox="1"/>
          <p:nvPr/>
        </p:nvSpPr>
        <p:spPr>
          <a:xfrm>
            <a:off x="9281160" y="46177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API endpoints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Twenty-six departments, twenty-six islands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84248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Heterogeneous infrastructure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532888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and IP cameras, multiple VMS vendors, differing AMC periods, formats and feed protocols — no common contract.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1984248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Geographic dispersion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01968" y="2532888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up to ~1,000 km apart on constrained, shared links. Bandwidth, not compute, is the binding limit.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4133088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114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unified analytics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681728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department watches its own screens. A vehicle crossing departmental boundaries crosses an information gap.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384048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01968" y="4133088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78040" y="4114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without redesign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4681728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cameras, departments and analytics must onboard continuously — toward ~80,000 cameras.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Federate metadata, not video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Model 1 (Registry &amp; GIS, mandatory) + Model 3 (VMS Federation Middleware)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8600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249424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1 is load-bearing, not a checkbox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63347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Scheduling, alerting, route reconstruction and gap analysis all key off registry metadata. It is the spine, not an inventory.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374904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712464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3 over Model 2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09651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departments will never converge on one VMS. An adapter layer federating sources and databases behind stable interfaces is the only design that survives vendor churn — departments keep their infrastructure and control.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93776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521208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1248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5175504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Model 4 as the primary posture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555955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Centralising 80,000 video streams is a bandwidth and cost trap. SUTRA centralises metadata and evidence: kilobytes per camera-minute instead of megabits per second.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modules, one contract each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1719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0299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Leaflet control room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175564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map · video wall · vehicle trace · alert centre · registry · coverage analysis · audit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50545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41248" y="2651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B8F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ATLAS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29626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&amp; GIS foundation (Model 1)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268833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Bulk/API/manual onboarding · layered GIS map · camera health · gap &amp; ageing analysis · CSV export · audit trail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1248" y="35844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B8F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389534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adapters &amp; federation (Model 3)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36210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http-progressive · RTSP over TCP · file · HLS/ONVIF-ready · adaptive ingest scheduler · shared MJPEG relay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370832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" y="451713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B8F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828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video analytics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455371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YOLOv9-t plate detection → CCT-S OCR → temporal voting → Indian-plate normalisation · YOLOX-nano scene analytics · route reconstruction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30352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41248" y="544982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B8F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57607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 correlation &amp; alerting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3840480" y="54864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matcher · severity model · WebSocket push · gov-DB connectors (VAHAN / SARTHI / eGujCop / AFIS contract)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2910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above is running code, demonstrated on the hackathon portal's live feeds — not a proposed component.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ANALYTICS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Indian plates on a CPU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74520"/>
            <a:ext cx="347472" cy="347472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85623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YOLOv9-tiny 640 (ONNX), 8 MB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3063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30–75 ms/frame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4992" y="16459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21024" y="1874520"/>
            <a:ext cx="347472" cy="347472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21024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78224" y="185623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CCT-S v2 (ONNX), 5 MB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21024" y="3063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per-character probabilities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81344" y="16459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37376" y="1874520"/>
            <a:ext cx="347472" cy="347472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37376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185623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37376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Per-vehicle track, char-level probability vote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37376" y="3063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partial reads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97696" y="16459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253728" y="1874520"/>
            <a:ext cx="347472" cy="347472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253728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710928" y="185623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Normalise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253728" y="2331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 confusion repair, state-code validation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253728" y="30632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official code list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7490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68680" y="3950208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accuracy characterisation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" y="4315968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Close-range cameras (toll gates, showroom approaches) read at 0.81–0.98 confidence.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Wide-angle intersection PTZs yield 50–90 px plates — partial reads the voting and fuzzy layers absorb.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Two-line commercial plates produce OCR variants; investigators register variants under one FIR.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fuzzy hit is labelled probable and shows the raw read — an operator is never handed an inference as a certainty.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 &amp; ALERTING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read to an operational reaction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Finalised read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090672" y="1600200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29000" y="1600200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29000" y="160020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/ fuzzy match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71032" y="1600200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309360" y="1600200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09360" y="160020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+ evidence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851392" y="1600200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89720" y="1600200"/>
            <a:ext cx="2514600" cy="658368"/>
          </a:xfrm>
          <a:prstGeom prst="roundRect">
            <a:avLst>
              <a:gd name="adj" fmla="val 11111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89720" y="160020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 boost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41248" y="280720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Matching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315468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 fires at the watchlist entry's priority. A fuzzy match — confusion-folded or edit-distance 1 — fires one severity lower and is labelled probable, carrying the plate the camera actually read.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1248" y="44988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Suppression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484632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 per-plate-per-camera cooldown, so a parked watchlisted vehicle cannot flood the operator. Alerts are then grouped into episodes: one row per vehicle per camera.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09360" y="260604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01968" y="280720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315468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alert boosts the hit camera and its three nearest neighbours to resident ingest slots — coverage tightens around the sighting instead of rotating away from it.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29768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601968" y="449884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4846320"/>
            <a:ext cx="4800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 connector returns make, model, class, RTO, insurance status and a masked owner name. SARTHI / eGujCop / AFIS map onto the same connector contract.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TEST CASE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Tracing a designated vehicle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57800" cy="4206240"/>
          </a:xfrm>
          <a:prstGeom prst="roundRect">
            <a:avLst>
              <a:gd name="adj" fmla="val 173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17830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evaluation asks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19456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~50 heterogeneous cameras onto one platform.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registration number on the day, identify and trace that vehicle across the network.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the complete route with timestamped, location-wise movement history.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continuous watchlist cross-referencing with automated real-time alerts.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40690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SUTRA answers 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448056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number in Trace. Detections are grouped into per-camera sightings, time-ordered and drawn as a GIS polyline with a timeline: every stop carries its time window, read confidence, evidence frame and the VAHAN record. A single-camera result says so explicitly rather than leaving an unexplained dot.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64808" y="1783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on the hosted instance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2240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322576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onboarded across 11 districts and 7 departments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64808" y="30449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1,000+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312724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detections with evidence frames retained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38496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39319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vehicles, collapsed from raw reads into one row each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464808" y="465429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47365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 alerts, grouped into operator-facing episodes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64808" y="5440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report exports every detection with UTC and IST timestamps, camera, location and evidence path.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INNOVATION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measured the network before designing for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sandbox portal rations delivery per client IP. Independent probes at 10 and 20 concurrent connections returned the same aggregate — so opening more streams only thins each one. This is the constraint a statewide rollout actually faces.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240280"/>
          <a:ext cx="5486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63640" y="2240280"/>
            <a:ext cx="5349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510528" y="238658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 Mbps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973568" y="2386584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ceiling per client IP, regardless of connection count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3172968"/>
            <a:ext cx="5349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510528" y="33192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s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7973568" y="3319272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time to first frame — a short dwell window never yields a picture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63640" y="4105656"/>
            <a:ext cx="5349240" cy="822960"/>
          </a:xfrm>
          <a:prstGeom prst="roundRect">
            <a:avLst>
              <a:gd name="adj" fmla="val 8889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510528" y="42519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3–4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7973568" y="42519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 decodable in real time per IP, at ~1.5 Mbps each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63640" y="507492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10528" y="5257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the scheduler is designed for it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510528" y="555955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concurrency budget sized to the source, 10-minute dwell rotation with least-recently-served fairness, operator pinning and alert-boost. All 30 network cameras are covered over time instead of 30 fighting for four sessions at once.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&amp; PRIVACY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as a government system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2697480"/>
          </a:xfrm>
          <a:prstGeom prst="roundRect">
            <a:avLst>
              <a:gd name="adj" fmla="val 271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10512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9222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 &amp; access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240280"/>
            <a:ext cx="30358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with PBKDF2 (200k iterations)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secret generated per install — never a committed default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rate limiting, failures audited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RBAC: admin / department-scoped operator / viewer, enforced server-side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25112" y="1600200"/>
            <a:ext cx="3520440" cy="2697480"/>
          </a:xfrm>
          <a:prstGeom prst="roundRect">
            <a:avLst>
              <a:gd name="adj" fmla="val 271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81144" y="1810512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1144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02352" y="179222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&amp; data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81144" y="2240280"/>
            <a:ext cx="30358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Snapshots, MJPEG, evidence and the alert socket all authenticate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SameSite cookie — invisible to page scripts, so XSS cannot exfiltrate it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confined to its directory, image-type allowlist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URLs restricted to camera protocols — no SSRF, no arbitrary file reads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01584" y="1600200"/>
            <a:ext cx="3520440" cy="2697480"/>
          </a:xfrm>
          <a:prstGeom prst="roundRect">
            <a:avLst>
              <a:gd name="adj" fmla="val 2712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1810512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7616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878824" y="179222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Accountability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2240280"/>
            <a:ext cx="303580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trail: logins and failures, onboarding, exports, watchlist edits, acknowledgements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headers, CORS restricted to configured origins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continuous central recording — watchlist-match alerting only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names masked in connector responses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41248" y="4736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Verified, not asserted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audit findings were found and closed before submission — a hardcoded signing secret, a fully public evidence store, unauthenticated media endpoints and an open alert socket among them.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is pinned by an automated test, so a regression fails CI rather than reaching a deployment: 59 tests run on every push alongside a dependency audit and a full-history secret scan.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for production: TLS termination, mTLS on federation links, a secrets vault, network segmentation across ingest/analytics/data planes, SIEM export and a hash-chained audit log.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COST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to ~80,000 cameras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video stays at the edge; metadata flows up.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0848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Uplink per camera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2–6 KB/s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SUTRA — detections and thumbnails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395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4F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 Mb/s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centralised video for the same camera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40156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500x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34015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uplink. A district of 500 cameras federates over ~25 Mb/s; full-video recall stays departmental on existing NVR retention.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920240"/>
            <a:ext cx="5577840" cy="1207008"/>
          </a:xfrm>
          <a:prstGeom prst="roundRect">
            <a:avLst>
              <a:gd name="adj" fmla="val 606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09360" y="206654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· ~150–260 nodes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237744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ANPR on commodity servers. Measured 30–75 ms/frame/core ⇒ 300–500 cameras per 32-core node at 1 fps; ~1,500–2,500 with one T4-class GPU.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3246120"/>
            <a:ext cx="5577840" cy="1207008"/>
          </a:xfrm>
          <a:prstGeom prst="roundRect">
            <a:avLst>
              <a:gd name="adj" fmla="val 606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09360" y="3392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Regional · 6–8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70332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event bus, PostgreSQL + PostGIS (partitioned), S3-compatible evidence store — hot 30 d / warm 180 d / cold archive.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4572000"/>
            <a:ext cx="5577840" cy="1207008"/>
          </a:xfrm>
          <a:prstGeom prst="roundRect">
            <a:avLst>
              <a:gd name="adj" fmla="val 6061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09360" y="47183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502920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Federation control plane, registry, search, command centre, government-DB connectors. Kubernetes, HA per tier, DR by cross-region metadata replication.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43484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04672" y="4617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Indicative capex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04672" y="493776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Edge-CPU option: ₹40–75 Cr + network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option: ₹55–90 Cr, 4x analytics headroom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of magnitude below centralised-video designs — the state pays for inference, not for hauling video.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deployed system, verified end to 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99032" y="1837944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split that mirrors the architecture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hosted command centre runs the central tier at 102 MB; ingest and inference run on an edge node at 514 MB for nine cameras. The proposed statewide boundary is the one the demo actually uses.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61188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99032" y="3849624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Federation proven, not asserted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4348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pushes cameras, detections, alerts and evidence upstream every 30 seconds, survives restarts, and keeps working when the centre is unreachable.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160020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83680" y="187452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8368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59752" y="1837944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state, everywhere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24231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Tiles show live, stalled, connecting, unreachable or queued from the ingest workers themselves. A frozen frame is never labelled live; decoder failures are translated into causes an operator can act on.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361188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3886200"/>
            <a:ext cx="384048" cy="384048"/>
          </a:xfrm>
          <a:prstGeom prst="ellipse">
            <a:avLst/>
          </a:prstGeom>
          <a:solidFill>
            <a:srgbClr val="F0A42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59752" y="3849624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discipline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44348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on every push — tests, build, dependency audit, full-history secret scan — with branch protection and approval-gated production deploys.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66928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C3A2A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48640" y="566928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A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17/17 live API endpoints green · 59 automated tests passing · zero duplicate records · real accumulated data from the government feeds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A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this platform to statewide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41248" y="17830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1305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819656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platform: registry and GIS, federation middleware, ANPR with temporal voting, watchlist correlation, alerting, trace, RBAC and audit — deployed and verified.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98648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41248" y="30815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429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3118104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Facial recognition with an AFIS confirmation loop (flagged candidate → human confirmation, never automatic identification), ONVIF auto-discovery, Kafka event bus, PostGIS migration.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97096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6263C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1248" y="43799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47274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4416552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rollout across the edge/regional/central tiers, eGujCop-fed watchlists, and an onboarding portal for public and private feeds.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5778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24405E"/>
          </a:solidFill>
          <a:ln/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57424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SUTRA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2926080" y="580644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Statewide Unified Tracking, Registry &amp; Analytics  ·  github.com/laveshparyani/SUTRA  ·  open-source throughout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SUTRA — Statewide Unified Tracking, Registry &amp; Analytics</dc:title>
  <dc:subject>PptxGenJS Presentation</dc:subject>
  <dc:creator>Lavesh Paryani</dc:creator>
  <cp:lastModifiedBy>Lavesh Paryani</cp:lastModifiedBy>
  <cp:revision>1</cp:revision>
  <dcterms:created xsi:type="dcterms:W3CDTF">2026-08-26T06:34:40Z</dcterms:created>
  <dcterms:modified xsi:type="dcterms:W3CDTF">2026-08-26T06:34:40Z</dcterms:modified>
</cp:coreProperties>
</file>